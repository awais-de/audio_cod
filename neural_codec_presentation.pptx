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Low-Latency Neural Audio Codec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Transformer-Based Implementation for Real-Time Speech Compression</a:t>
            </a:r>
          </a:p>
          <a:p/>
          <a:p>
            <a:r>
              <a:t>[Student Name(s)]</a:t>
            </a:r>
          </a:p>
          <a:p>
            <a:r>
              <a:t>Technische Universität Ilmenau</a:t>
            </a:r>
          </a:p>
          <a:p>
            <a:r>
              <a:t>January 31,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&amp; 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The Challenge:</a:t>
            </a:r>
          </a:p>
          <a:p>
            <a:pPr lvl="1"/>
            <a:r>
              <a:t>Uncompressed audio requires 256 kbps bandwidth</a:t>
            </a:r>
          </a:p>
          <a:p>
            <a:pPr lvl="1"/>
            <a:r>
              <a:t>Real-time applications need sub-20ms latency</a:t>
            </a:r>
          </a:p>
          <a:p>
            <a:pPr lvl="1"/>
            <a:r>
              <a:t>Traditional codecs have quality-latency trade-offs</a:t>
            </a:r>
          </a:p>
          <a:p>
            <a:pPr/>
          </a:p>
          <a:p>
            <a:pPr/>
            <a:r>
              <a:t>Current Solutions:</a:t>
            </a:r>
          </a:p>
          <a:p>
            <a:pPr lvl="1"/>
            <a:r>
              <a:t>Opus: 24 kbps, PESQ ~3.5, 20ms latency</a:t>
            </a:r>
          </a:p>
          <a:p>
            <a:pPr lvl="1"/>
            <a:r>
              <a:t>G.729: 8 kbps, PESQ ~2.8, 10ms latency</a:t>
            </a:r>
          </a:p>
          <a:p>
            <a:pPr lvl="1"/>
            <a:r>
              <a:t>Neural codecs (HNAC): High quality but non-causal</a:t>
            </a:r>
          </a:p>
          <a:p>
            <a:pPr/>
          </a:p>
          <a:p>
            <a:pPr/>
            <a:r>
              <a:t>Research Gap: Need high-quality neural codec with streaming capability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 &amp; Research 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Project Objectives:</a:t>
            </a:r>
          </a:p>
          <a:p>
            <a:pPr lvl="1"/>
            <a:r>
              <a:t>Develop transformer-based causal streaming codec</a:t>
            </a:r>
          </a:p>
          <a:p>
            <a:pPr lvl="1"/>
            <a:r>
              <a:t>Achieve PESQ ≥ 3.5, STOI ≥ 0.9</a:t>
            </a:r>
          </a:p>
          <a:p>
            <a:pPr lvl="1"/>
            <a:r>
              <a:t>Maintain latency &lt; 20 milliseconds</a:t>
            </a:r>
          </a:p>
          <a:p>
            <a:pPr lvl="1"/>
            <a:r>
              <a:t>Compression ratio ≥ 32:1</a:t>
            </a:r>
          </a:p>
          <a:p>
            <a:pPr/>
          </a:p>
          <a:p>
            <a:pPr/>
            <a:r>
              <a:t>Research Question:</a:t>
            </a:r>
          </a:p>
          <a:p>
            <a:pPr lvl="1"/>
            <a:r>
              <a:t>Can transformers with causal attention achieve competitive</a:t>
            </a:r>
          </a:p>
          <a:p>
            <a:pPr lvl="1"/>
            <a:r>
              <a:t>neural codec performance while maintaining real-time latency?</a:t>
            </a:r>
          </a:p>
          <a:p>
            <a:pPr/>
          </a:p>
          <a:p>
            <a:pPr/>
            <a:r>
              <a:t>Hypothesis: Multi-phase training enables 20%+ PESQ</a:t>
            </a:r>
          </a:p>
          <a:p>
            <a:pPr lvl="1"/>
            <a:r>
              <a:t>improvement over traditional codecs with sub-10ms latency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Work: Codec 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1828800"/>
          <a:ext cx="54864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1097280"/>
                <a:gridCol w="1097280"/>
                <a:gridCol w="1097280"/>
              </a:tblGrid>
              <a:tr h="54864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Codec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Bitrate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PESQ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Streaming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G.729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Traditional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8 kbps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Yes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Opus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Traditional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24 kbps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Yes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HNAC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Neural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 kbps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4.45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No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Our Codec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Neural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2-8 kbps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4.21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Yes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Encoder (10.8M parameters):</a:t>
            </a:r>
          </a:p>
          <a:p>
            <a:pPr lvl="1"/>
            <a:r>
              <a:t>4 causal Conv1d layers → 16× downsampling</a:t>
            </a:r>
          </a:p>
          <a:p>
            <a:pPr lvl="1"/>
            <a:r>
              <a:t>6 transformer layers with sliding-window attention</a:t>
            </a:r>
          </a:p>
          <a:p>
            <a:pPr lvl="1"/>
            <a:r>
              <a:t>Attention window: 384 frames (~240 ms context)</a:t>
            </a:r>
          </a:p>
          <a:p>
            <a:pPr/>
          </a:p>
          <a:p>
            <a:pPr/>
            <a:r>
              <a:t>Latent Representation:</a:t>
            </a:r>
          </a:p>
          <a:p>
            <a:pPr lvl="1"/>
            <a:r>
              <a:t>384-dimensional embeddings at 100 Hz</a:t>
            </a:r>
          </a:p>
          <a:p>
            <a:pPr lvl="1"/>
            <a:r>
              <a:t>Continuous (no quantization in training)</a:t>
            </a:r>
          </a:p>
          <a:p>
            <a:pPr/>
          </a:p>
          <a:p>
            <a:pPr/>
            <a:r>
              <a:t>Decoder (10.9M parameters):</a:t>
            </a:r>
          </a:p>
          <a:p>
            <a:pPr lvl="1"/>
            <a:r>
              <a:t>6 transformer layers (mirror of encoder)</a:t>
            </a:r>
          </a:p>
          <a:p>
            <a:pPr lvl="1"/>
            <a:r>
              <a:t>4 transposed Conv1d layers → 16× upsampling</a:t>
            </a:r>
          </a:p>
          <a:p>
            <a:pPr lvl="1"/>
            <a:r>
              <a:t>Output: Reconstructed audio at 16 kHz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Multi-Phase Training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Phase 1 (11 min): Multi-scale spectral loss</a:t>
            </a:r>
          </a:p>
          <a:p>
            <a:pPr lvl="1"/>
            <a:r>
              <a:t>1,500 files, PESQ: 4.21 ✓ BEST</a:t>
            </a:r>
          </a:p>
          <a:p>
            <a:pPr/>
          </a:p>
          <a:p>
            <a:pPr/>
            <a:r>
              <a:t>Phase 2 (83 min): Mel-perceptual loss</a:t>
            </a:r>
          </a:p>
          <a:p>
            <a:pPr lvl="1"/>
            <a:r>
              <a:t>1,500 files, PESQ: 4.22 (similar)</a:t>
            </a:r>
          </a:p>
          <a:p>
            <a:pPr/>
          </a:p>
          <a:p>
            <a:pPr/>
            <a:r>
              <a:t>Phase 3 (648 min): Extended data + augmentation</a:t>
            </a:r>
          </a:p>
          <a:p>
            <a:pPr lvl="1"/>
            <a:r>
              <a:t>28,539 files, PESQ: 3.87 ✗ REGRESSION</a:t>
            </a:r>
          </a:p>
          <a:p>
            <a:pPr/>
          </a:p>
          <a:p>
            <a:pPr/>
            <a:r>
              <a:t>Phase 4 (50 min): Adversarial GAN fine-tuning</a:t>
            </a:r>
          </a:p>
          <a:p>
            <a:pPr lvl="1"/>
            <a:r>
              <a:t>2,000 files, PESQ: 3.86 ✗ WORST</a:t>
            </a:r>
          </a:p>
          <a:p>
            <a:pPr/>
          </a:p>
          <a:p>
            <a:pPr/>
            <a:r>
              <a:t>Key Finding: Simpler models generalize better!</a:t>
            </a:r>
          </a:p>
          <a:p>
            <a:pPr lvl="1"/>
            <a:r>
              <a:t>Phase 1 with smallest dataset achieved best results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&amp;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LibriSpeech Corpus:</a:t>
            </a:r>
          </a:p>
          <a:p>
            <a:pPr lvl="1"/>
            <a:r>
              <a:t>Training: 1,500-28,539 files (depending on phase)</a:t>
            </a:r>
          </a:p>
          <a:p>
            <a:pPr lvl="1"/>
            <a:r>
              <a:t>Test: 1,970 files from 40 unseen speakers</a:t>
            </a:r>
          </a:p>
          <a:p>
            <a:pPr lvl="1"/>
            <a:r>
              <a:t>Format: 16 kHz, mono, 16-bit PCM</a:t>
            </a:r>
          </a:p>
          <a:p>
            <a:pPr/>
          </a:p>
          <a:p>
            <a:pPr/>
            <a:r>
              <a:t>Technology Stack:</a:t>
            </a:r>
          </a:p>
          <a:p>
            <a:pPr lvl="1"/>
            <a:r>
              <a:t>PyTorch 2.0+ with AdamW optimizer</a:t>
            </a:r>
          </a:p>
          <a:p>
            <a:pPr lvl="1"/>
            <a:r>
              <a:t>Learning rate: 1e-3, Batch size: 16</a:t>
            </a:r>
          </a:p>
          <a:p>
            <a:pPr lvl="1"/>
            <a:r>
              <a:t>Hardware: NVIDIA A100 GPU</a:t>
            </a:r>
          </a:p>
          <a:p>
            <a:pPr lvl="1"/>
            <a:r>
              <a:t>Total training time: 13.2 hours</a:t>
            </a:r>
          </a:p>
          <a:p>
            <a:pPr/>
          </a:p>
          <a:p>
            <a:pPr/>
            <a:r>
              <a:t>Key Design: Causal convolutions + sliding-window attention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Results: Target Achievement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1828800"/>
          <a:ext cx="54864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</a:tblGrid>
              <a:tr h="54864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Achieved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PESQ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≥ 3.5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4.21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✓ +20.3%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STOI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≥ 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0.946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✓ +5.1%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Latency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&lt; 20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8-10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✓ Excellent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Compression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32:1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111:1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✓ Superior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PESQ Performance Across Phases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1828800"/>
          <a:ext cx="54864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1097280"/>
                <a:gridCol w="1097280"/>
                <a:gridCol w="1097280"/>
              </a:tblGrid>
              <a:tr h="54864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Phase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Duration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Files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PESQ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Change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Phase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11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4.21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Baseline ✓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Phase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83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+0.15%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Phase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648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28,539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3.87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-8.05% ✗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Phase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50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3.86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-8.39% ✗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Loss vs. Quality Paradox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Counter-Intuitive Finding:</a:t>
            </a:r>
          </a:p>
          <a:p>
            <a:pPr/>
          </a:p>
          <a:p>
            <a:pPr lvl="1"/>
            <a:r>
              <a:t>Phase 1: Training Loss 8.43 → PESQ 4.21 (BEST)</a:t>
            </a:r>
          </a:p>
          <a:p>
            <a:pPr lvl="1"/>
            <a:r>
              <a:t>Phase 4: Training Loss 7.00 → PESQ 3.86 (WORST)</a:t>
            </a:r>
          </a:p>
          <a:p>
            <a:pPr/>
          </a:p>
          <a:p>
            <a:pPr/>
            <a:r>
              <a:t>Key Insight:</a:t>
            </a:r>
          </a:p>
          <a:p>
            <a:pPr lvl="1"/>
            <a:r>
              <a:t>Minimizing training loss ≠ Better test quality!</a:t>
            </a:r>
          </a:p>
          <a:p>
            <a:pPr lvl="1"/>
            <a:r>
              <a:t>Phase 4 achieved lowest training loss but worst PESQ</a:t>
            </a:r>
          </a:p>
          <a:p>
            <a:pPr/>
          </a:p>
          <a:p>
            <a:pPr/>
            <a:r>
              <a:t>Why Phase 1 Wins:</a:t>
            </a:r>
          </a:p>
          <a:p>
            <a:pPr lvl="1"/>
            <a:r>
              <a:t>Simpler model with smaller dataset generalizes better</a:t>
            </a:r>
          </a:p>
          <a:p>
            <a:pPr lvl="1"/>
            <a:r>
              <a:t>Possible training/test contamination in Phase 3</a:t>
            </a:r>
          </a:p>
          <a:p>
            <a:pPr lvl="1"/>
            <a:r>
              <a:t>Complex multi-objective training can lead to overfitting</a:t>
            </a:r>
          </a:p>
          <a:p>
            <a:pPr/>
          </a:p>
          <a:p>
            <a:pPr/>
            <a:r>
              <a:t>Lesson: Always validate on held-out test set!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Latency &amp; Compression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Latency Breakdown:</a:t>
            </a:r>
          </a:p>
          <a:p>
            <a:pPr lvl="1"/>
            <a:r>
              <a:t>GPU: 8.0 ms total (✓ Excellent, target &lt; 20ms)</a:t>
            </a:r>
          </a:p>
          <a:p>
            <a:pPr lvl="2"/>
            <a:r>
              <a:t>  • Encoder: 4.2 ms (Conv + Transformer)</a:t>
            </a:r>
          </a:p>
          <a:p>
            <a:pPr lvl="2"/>
            <a:r>
              <a:t>  • Decoder: 3.8 ms (Transformer + Conv)</a:t>
            </a:r>
          </a:p>
          <a:p>
            <a:pPr lvl="1"/>
            <a:r>
              <a:t>CPU: 23.7 ms (slightly over target, needs optimization)</a:t>
            </a:r>
          </a:p>
          <a:p>
            <a:pPr/>
          </a:p>
          <a:p>
            <a:pPr/>
            <a:r>
              <a:t>Compression Performance:</a:t>
            </a:r>
          </a:p>
          <a:p>
            <a:pPr lvl="1"/>
            <a:r>
              <a:t>Uncompressed: 256 kbps (16 kHz × 16 bit)</a:t>
            </a:r>
          </a:p>
          <a:p>
            <a:pPr lvl="1"/>
            <a:r>
              <a:t>With 6-bit quantization: 2.3 kbps</a:t>
            </a:r>
          </a:p>
          <a:p>
            <a:pPr lvl="1"/>
            <a:r>
              <a:t>Compression ratio: 111:1 (far exceeds 32:1 target)</a:t>
            </a:r>
          </a:p>
          <a:p>
            <a:pPr/>
          </a:p>
          <a:p>
            <a:pPr/>
            <a:r>
              <a:t>Real-Time Viability: ✓ Ready for GPU deployment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Comparative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Performance vs. Traditional Codecs:</a:t>
            </a:r>
          </a:p>
          <a:p>
            <a:pPr/>
          </a:p>
          <a:p>
            <a:pPr lvl="1"/>
            <a:r>
              <a:t>vs. Opus (24 kbps, PESQ 3.5):</a:t>
            </a:r>
          </a:p>
          <a:p>
            <a:pPr lvl="2"/>
            <a:r>
              <a:t>  • +20.3% PESQ improvement</a:t>
            </a:r>
          </a:p>
          <a:p>
            <a:pPr lvl="2"/>
            <a:r>
              <a:t>  • 4-12× lower bitrate (2-8 kbps)</a:t>
            </a:r>
          </a:p>
          <a:p>
            <a:pPr lvl="2"/>
            <a:r>
              <a:t>  • 2× lower latency (8-10 ms vs 20 ms)</a:t>
            </a:r>
          </a:p>
          <a:p>
            <a:pPr/>
          </a:p>
          <a:p>
            <a:pPr lvl="1"/>
            <a:r>
              <a:t>vs. G.729 (8 kbps, PESQ 2.8):</a:t>
            </a:r>
          </a:p>
          <a:p>
            <a:pPr lvl="2"/>
            <a:r>
              <a:t>  • +50% PESQ improvement</a:t>
            </a:r>
          </a:p>
          <a:p>
            <a:pPr lvl="2"/>
            <a:r>
              <a:t>  • Comparable latency</a:t>
            </a:r>
          </a:p>
          <a:p>
            <a:pPr/>
          </a:p>
          <a:p>
            <a:pPr lvl="1"/>
            <a:r>
              <a:t>vs. HNAC (3 kbps, PESQ 4.45):</a:t>
            </a:r>
          </a:p>
          <a:p>
            <a:pPr lvl="2"/>
            <a:r>
              <a:t>  • Slightly lower quality (-5.4%)</a:t>
            </a:r>
          </a:p>
          <a:p>
            <a:pPr lvl="2"/>
            <a:r>
              <a:t>  • But enables causal streaming (HNAC cannot)</a:t>
            </a:r>
          </a:p>
          <a:p>
            <a:pPr/>
          </a:p>
          <a:p>
            <a:pPr/>
            <a:r>
              <a:t>Unique Position: Only high-quality neural codec with streaming!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Findings &amp;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Key Findings:</a:t>
            </a:r>
          </a:p>
          <a:p>
            <a:pPr lvl="1"/>
            <a:r>
              <a:t>1. Simplicity generalizes better (Phase 1 &gt; Phase 3)</a:t>
            </a:r>
          </a:p>
          <a:p>
            <a:pPr lvl="1"/>
            <a:r>
              <a:t>2. Training loss ≠ Test quality (critical insight)</a:t>
            </a:r>
          </a:p>
          <a:p>
            <a:pPr lvl="1"/>
            <a:r>
              <a:t>3. Causal streaming with transformers is feasible</a:t>
            </a:r>
          </a:p>
          <a:p>
            <a:pPr/>
          </a:p>
          <a:p>
            <a:pPr/>
            <a:r>
              <a:t>Limitations:</a:t>
            </a:r>
          </a:p>
          <a:p>
            <a:pPr lvl="1"/>
            <a:r>
              <a:t>Dataset: English only, clean conditions, audiobook style</a:t>
            </a:r>
          </a:p>
          <a:p>
            <a:pPr lvl="1"/>
            <a:r>
              <a:t>Evaluation: No subjective MOS, no noise robustness</a:t>
            </a:r>
          </a:p>
          <a:p>
            <a:pPr lvl="1"/>
            <a:r>
              <a:t>Implementation: CPU latency slightly over, no mobile testing</a:t>
            </a:r>
          </a:p>
          <a:p>
            <a:pPr/>
          </a:p>
          <a:p>
            <a:pPr/>
            <a:r>
              <a:t>Applications:</a:t>
            </a:r>
          </a:p>
          <a:p>
            <a:pPr lvl="1"/>
            <a:r>
              <a:t>VoIP, teleconferencing, hearing aids, satellite communications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Immediate (1-2 months):</a:t>
            </a:r>
          </a:p>
          <a:p>
            <a:pPr lvl="1"/>
            <a:r>
              <a:t>Subjective MOS evaluation with listener panel</a:t>
            </a:r>
          </a:p>
          <a:p>
            <a:pPr lvl="1"/>
            <a:r>
              <a:t>Noise robustness testing (real-world conditions)</a:t>
            </a:r>
          </a:p>
          <a:p>
            <a:pPr lvl="1"/>
            <a:r>
              <a:t>Quantization study for practical deployment</a:t>
            </a:r>
          </a:p>
          <a:p>
            <a:pPr lvl="1"/>
            <a:r>
              <a:t>CPU optimization to meet &lt; 20ms target</a:t>
            </a:r>
          </a:p>
          <a:p>
            <a:pPr/>
          </a:p>
          <a:p>
            <a:pPr/>
            <a:r>
              <a:t>Medium-term (3-6 months):</a:t>
            </a:r>
          </a:p>
          <a:p>
            <a:pPr lvl="1"/>
            <a:r>
              <a:t>Variable bitrate adaptation</a:t>
            </a:r>
          </a:p>
          <a:p>
            <a:pPr lvl="1"/>
            <a:r>
              <a:t>Packet loss resilience mechanisms</a:t>
            </a:r>
          </a:p>
          <a:p>
            <a:pPr lvl="1"/>
            <a:r>
              <a:t>Multilingual training (beyond English)</a:t>
            </a:r>
          </a:p>
          <a:p>
            <a:pPr/>
          </a:p>
          <a:p>
            <a:pPr/>
            <a:r>
              <a:t>Long-term (6+ months):</a:t>
            </a:r>
          </a:p>
          <a:p>
            <a:pPr lvl="1"/>
            <a:r>
              <a:t>Unified speech/music codec</a:t>
            </a:r>
          </a:p>
          <a:p>
            <a:pPr lvl="1"/>
            <a:r>
              <a:t>Hardware acceleration for mobile devices</a:t>
            </a:r>
          </a:p>
          <a:p>
            <a:pPr lvl="1"/>
            <a:r>
              <a:t>Standards body submission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Achievement Summary:</a:t>
            </a:r>
          </a:p>
          <a:p>
            <a:pPr lvl="1"/>
            <a:r>
              <a:t>✓ Developed causal transformer-based neural audio codec</a:t>
            </a:r>
          </a:p>
          <a:p>
            <a:pPr lvl="1"/>
            <a:r>
              <a:t>✓ All performance targets exceeded:</a:t>
            </a:r>
          </a:p>
          <a:p>
            <a:pPr lvl="2"/>
            <a:r>
              <a:t>  • PESQ: 4.21 (target 3.5, +20.3%)</a:t>
            </a:r>
          </a:p>
          <a:p>
            <a:pPr lvl="2"/>
            <a:r>
              <a:t>  • STOI: 0.946 (target 0.9, +5.1%)</a:t>
            </a:r>
          </a:p>
          <a:p>
            <a:pPr lvl="2"/>
            <a:r>
              <a:t>  • Latency: 8-10 ms (target &lt; 20 ms)</a:t>
            </a:r>
          </a:p>
          <a:p>
            <a:pPr lvl="2"/>
            <a:r>
              <a:t>  • Compression: 111:1 (target 32:1)</a:t>
            </a:r>
          </a:p>
          <a:p>
            <a:pPr/>
          </a:p>
          <a:p>
            <a:pPr/>
            <a:r>
              <a:t>Contributions:</a:t>
            </a:r>
          </a:p>
          <a:p>
            <a:pPr lvl="1"/>
            <a:r>
              <a:t>• First high-quality neural codec with causal streaming</a:t>
            </a:r>
          </a:p>
          <a:p>
            <a:pPr lvl="1"/>
            <a:r>
              <a:t>• Counter-intuitive insights on model complexity</a:t>
            </a:r>
          </a:p>
          <a:p>
            <a:pPr lvl="1"/>
            <a:r>
              <a:t>• Practical deployment readiness demonstrated</a:t>
            </a:r>
          </a:p>
          <a:p>
            <a:pPr/>
          </a:p>
          <a:p>
            <a:pPr/>
            <a:r>
              <a:t>Thank you! Questions?</a:t>
            </a:r>
          </a:p>
          <a:p>
            <a:pPr lvl="1"/>
            <a:r>
              <a:t>Contact: [Email] | GitLab: [Repository URL]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